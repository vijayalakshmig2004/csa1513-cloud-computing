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2" r:id="rId6"/>
    <p:sldId id="261" r:id="rId7"/>
    <p:sldId id="263" r:id="rId8"/>
    <p:sldId id="265" r:id="rId9"/>
    <p:sldId id="267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5" d="100"/>
          <a:sy n="65" d="100"/>
        </p:scale>
        <p:origin x="135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8B5090-D67A-4E41-BDC0-AB0DE6C68CF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0DD983-27DF-484C-8074-10937D9C53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7809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0DD983-27DF-484C-8074-10937D9C53B0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98197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0DD983-27DF-484C-8074-10937D9C53B0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54782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7/22/2026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88E2E-08E0-A80E-175E-2B5888343A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4411" y="929300"/>
            <a:ext cx="8825658" cy="2783163"/>
          </a:xfrm>
        </p:spPr>
        <p:txBody>
          <a:bodyPr/>
          <a:lstStyle/>
          <a:p>
            <a:r>
              <a:rPr lang="en-IN" dirty="0"/>
              <a:t>Multi-Cloud and Hybrid Cloud Strategies for IT Enterprise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3101AC-030B-FA57-F84A-54E83FC5E8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3763" y="4283604"/>
            <a:ext cx="8825658" cy="1888596"/>
          </a:xfrm>
        </p:spPr>
        <p:txBody>
          <a:bodyPr>
            <a:noAutofit/>
          </a:bodyPr>
          <a:lstStyle/>
          <a:p>
            <a:r>
              <a:rPr lang="en-IN" sz="1600" dirty="0"/>
              <a:t>CSA1513 Cloud computing and big data analytics </a:t>
            </a:r>
          </a:p>
          <a:p>
            <a:endParaRPr lang="en-IN" sz="1600" dirty="0"/>
          </a:p>
          <a:p>
            <a:r>
              <a:rPr lang="en-IN" sz="1600" dirty="0"/>
              <a:t>Vijayalakshmi G</a:t>
            </a:r>
          </a:p>
          <a:p>
            <a:r>
              <a:rPr lang="en-IN" sz="1600" dirty="0"/>
              <a:t>192321080</a:t>
            </a:r>
          </a:p>
          <a:p>
            <a:r>
              <a:rPr lang="en-IN" sz="1600" dirty="0" err="1"/>
              <a:t>B.Tech</a:t>
            </a:r>
            <a:r>
              <a:rPr lang="en-IN" sz="1600" dirty="0"/>
              <a:t> IT</a:t>
            </a:r>
          </a:p>
          <a:p>
            <a:endParaRPr lang="en-IN" sz="1600" dirty="0"/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420458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1CAC5-2DFB-32E1-9C9F-B55C3CB17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is </a:t>
            </a:r>
            <a:r>
              <a:rPr lang="en-IN" b="1"/>
              <a:t>Cloud computing?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90A59-C372-AE60-EDCC-1FD955CD4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Cloud computing is renting computing resources (servers, storage, databases, software) over the internet instead of buying and maintaining your own physical hardware.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55F556-482B-DE94-06A4-749D1D5E9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503" y="3651479"/>
            <a:ext cx="7247617" cy="2861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635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8866D-E116-0C87-FEB5-1DBDF760F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 Cloud Models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4CA5F-9ECE-661C-C6C3-630EAEEEEE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Hybrid Cloud</a:t>
            </a:r>
          </a:p>
          <a:p>
            <a:r>
              <a:rPr lang="en-IN" b="1" dirty="0"/>
              <a:t>What it is:</a:t>
            </a:r>
            <a:r>
              <a:rPr lang="en-IN" dirty="0"/>
              <a:t> A combination of a </a:t>
            </a:r>
            <a:r>
              <a:rPr lang="en-IN" b="1" dirty="0"/>
              <a:t>private cloud and a public cloud</a:t>
            </a:r>
            <a:r>
              <a:rPr lang="en-IN" dirty="0"/>
              <a:t> used together.</a:t>
            </a:r>
          </a:p>
          <a:p>
            <a:r>
              <a:rPr lang="en-IN" b="1" dirty="0"/>
              <a:t>Goal:</a:t>
            </a:r>
            <a:r>
              <a:rPr lang="en-IN" dirty="0"/>
              <a:t> To share and manage </a:t>
            </a:r>
            <a:r>
              <a:rPr lang="en-IN" b="1" dirty="0"/>
              <a:t>data and applications</a:t>
            </a:r>
            <a:r>
              <a:rPr lang="en-IN" dirty="0"/>
              <a:t> between both cloud environments easily.</a:t>
            </a:r>
          </a:p>
          <a:p>
            <a:r>
              <a:rPr lang="en-IN" b="1" dirty="0"/>
              <a:t>Multi-Cloud</a:t>
            </a:r>
          </a:p>
          <a:p>
            <a:r>
              <a:rPr lang="en-IN" b="1" dirty="0"/>
              <a:t>What it is:</a:t>
            </a:r>
            <a:r>
              <a:rPr lang="en-IN" dirty="0"/>
              <a:t> Using </a:t>
            </a:r>
            <a:r>
              <a:rPr lang="en-IN" b="1" dirty="0"/>
              <a:t>cloud services from multiple cloud providers</a:t>
            </a:r>
            <a:r>
              <a:rPr lang="en-IN" dirty="0"/>
              <a:t> like AWS, Azure, or Google Cloud.</a:t>
            </a:r>
          </a:p>
          <a:p>
            <a:r>
              <a:rPr lang="en-IN" b="1" dirty="0"/>
              <a:t>Goal:</a:t>
            </a:r>
            <a:r>
              <a:rPr lang="en-IN" dirty="0"/>
              <a:t> To choose </a:t>
            </a:r>
            <a:r>
              <a:rPr lang="en-IN" b="1" dirty="0"/>
              <a:t>different cloud providers</a:t>
            </a:r>
            <a:r>
              <a:rPr lang="en-IN" dirty="0"/>
              <a:t> based on the services and features needed.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1122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A5C68-609E-8796-2597-4E1F011E8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The Hybrid Cloud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DA846-DE01-0B0F-A674-84EE25B7F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Hybrid Cloud</a:t>
            </a:r>
          </a:p>
          <a:p>
            <a:r>
              <a:rPr lang="en-IN" dirty="0"/>
              <a:t>A </a:t>
            </a:r>
            <a:r>
              <a:rPr lang="en-IN" b="1" dirty="0"/>
              <a:t>Hybrid Cloud</a:t>
            </a:r>
            <a:r>
              <a:rPr lang="en-IN" dirty="0"/>
              <a:t> combines a </a:t>
            </a:r>
            <a:r>
              <a:rPr lang="en-IN" b="1" dirty="0"/>
              <a:t>private cloud or local infrastructure</a:t>
            </a:r>
            <a:r>
              <a:rPr lang="en-IN" dirty="0"/>
              <a:t> with </a:t>
            </a:r>
            <a:r>
              <a:rPr lang="en-IN" b="1" dirty="0"/>
              <a:t>public cloud services</a:t>
            </a:r>
            <a:r>
              <a:rPr lang="en-IN" dirty="0"/>
              <a:t>.</a:t>
            </a:r>
          </a:p>
          <a:p>
            <a:r>
              <a:rPr lang="en-IN" b="1"/>
              <a:t>Examples</a:t>
            </a:r>
            <a:r>
              <a:rPr lang="en-IN" b="1" dirty="0"/>
              <a:t>:</a:t>
            </a:r>
            <a:endParaRPr lang="en-IN" dirty="0"/>
          </a:p>
          <a:p>
            <a:r>
              <a:rPr lang="en-IN" dirty="0"/>
              <a:t>A bank keeps </a:t>
            </a:r>
            <a:r>
              <a:rPr lang="en-IN" b="1" dirty="0"/>
              <a:t>customer financial data in a private cloud</a:t>
            </a:r>
            <a:r>
              <a:rPr lang="en-IN" dirty="0"/>
              <a:t> but uses the </a:t>
            </a:r>
            <a:r>
              <a:rPr lang="en-IN" b="1" dirty="0"/>
              <a:t>public cloud to run its website</a:t>
            </a:r>
            <a:r>
              <a:rPr lang="en-IN" dirty="0"/>
              <a:t>. </a:t>
            </a:r>
          </a:p>
          <a:p>
            <a:r>
              <a:rPr lang="en-IN" dirty="0"/>
              <a:t>A company uses the </a:t>
            </a:r>
            <a:r>
              <a:rPr lang="en-IN" b="1" dirty="0"/>
              <a:t>public cloud to train an AI model</a:t>
            </a:r>
            <a:r>
              <a:rPr lang="en-IN" dirty="0"/>
              <a:t> and then moves it to its </a:t>
            </a:r>
            <a:r>
              <a:rPr lang="en-IN" b="1" dirty="0"/>
              <a:t>private system for better security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024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2C110-2FA1-F569-52DD-7E12FACCC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quote-cjk-patch"/>
              </a:rPr>
              <a:t> Hybrid Cloud – Benefits &amp; Challenges</a:t>
            </a:r>
            <a:br>
              <a:rPr lang="en-IN" b="1" dirty="0">
                <a:solidFill>
                  <a:schemeClr val="bg1"/>
                </a:solidFill>
                <a:latin typeface="quote-cjk-patch"/>
              </a:rPr>
            </a:br>
            <a:endParaRPr lang="en-IN" dirty="0">
              <a:solidFill>
                <a:schemeClr val="bg1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1C6C0E9-F215-3842-9680-4A9F505DF2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2869525"/>
              </p:ext>
            </p:extLst>
          </p:nvPr>
        </p:nvGraphicFramePr>
        <p:xfrm>
          <a:off x="1390812" y="2978497"/>
          <a:ext cx="9410375" cy="2905835"/>
        </p:xfrm>
        <a:graphic>
          <a:graphicData uri="http://schemas.openxmlformats.org/drawingml/2006/table">
            <a:tbl>
              <a:tblPr/>
              <a:tblGrid>
                <a:gridCol w="4707192">
                  <a:extLst>
                    <a:ext uri="{9D8B030D-6E8A-4147-A177-3AD203B41FA5}">
                      <a16:colId xmlns:a16="http://schemas.microsoft.com/office/drawing/2014/main" val="2175596973"/>
                    </a:ext>
                  </a:extLst>
                </a:gridCol>
                <a:gridCol w="4703183">
                  <a:extLst>
                    <a:ext uri="{9D8B030D-6E8A-4147-A177-3AD203B41FA5}">
                      <a16:colId xmlns:a16="http://schemas.microsoft.com/office/drawing/2014/main" val="662777093"/>
                    </a:ext>
                  </a:extLst>
                </a:gridCol>
              </a:tblGrid>
              <a:tr h="540791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2000" b="1" dirty="0">
                          <a:effectLst/>
                          <a:highlight>
                            <a:srgbClr val="00FF00"/>
                          </a:highlight>
                          <a:latin typeface="quote-cjk-patch"/>
                        </a:rPr>
                        <a:t>Benefits</a:t>
                      </a:r>
                      <a:endParaRPr lang="en-IN" sz="2000" b="0" dirty="0">
                        <a:effectLst/>
                        <a:highlight>
                          <a:srgbClr val="00FF00"/>
                        </a:highlight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2000" b="1" dirty="0">
                          <a:effectLst/>
                          <a:highlight>
                            <a:srgbClr val="00FF00"/>
                          </a:highlight>
                          <a:latin typeface="quote-cjk-patch"/>
                        </a:rPr>
                        <a:t>Challenges</a:t>
                      </a:r>
                      <a:endParaRPr lang="en-IN" sz="2000" b="0" dirty="0">
                        <a:effectLst/>
                        <a:highlight>
                          <a:srgbClr val="00FF00"/>
                        </a:highlight>
                        <a:latin typeface="quote-cjk-patch"/>
                      </a:endParaRP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795876"/>
                  </a:ext>
                </a:extLst>
              </a:tr>
              <a:tr h="54079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2000" b="0" dirty="0">
                          <a:effectLst/>
                          <a:latin typeface="quote-cjk-patch"/>
                        </a:rPr>
                        <a:t>Keep sensitive data secure on-premises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2000" b="0">
                          <a:effectLst/>
                          <a:latin typeface="quote-cjk-patch"/>
                        </a:rPr>
                        <a:t>Complex integration between environments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270469"/>
                  </a:ext>
                </a:extLst>
              </a:tr>
              <a:tr h="54079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2000" b="0" dirty="0">
                          <a:effectLst/>
                          <a:latin typeface="quote-cjk-patch"/>
                        </a:rPr>
                        <a:t>Burst to public cloud during demand spikes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2000" b="0" dirty="0">
                          <a:effectLst/>
                          <a:latin typeface="quote-cjk-patch"/>
                        </a:rPr>
                        <a:t>High upfront hardware costs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487104"/>
                  </a:ext>
                </a:extLst>
              </a:tr>
              <a:tr h="54079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2000" b="0">
                          <a:effectLst/>
                          <a:latin typeface="quote-cjk-patch"/>
                        </a:rPr>
                        <a:t>Modernize legacy systems gradually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2000" b="0">
                          <a:effectLst/>
                          <a:latin typeface="quote-cjk-patch"/>
                        </a:rPr>
                        <a:t>Hard to monitor across two environments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2425731"/>
                  </a:ext>
                </a:extLst>
              </a:tr>
              <a:tr h="54079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2000" b="0" dirty="0">
                          <a:effectLst/>
                          <a:latin typeface="quote-cjk-patch"/>
                        </a:rPr>
                        <a:t>Low latency for critical workloads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2000" b="0" dirty="0">
                          <a:effectLst/>
                          <a:latin typeface="quote-cjk-patch"/>
                        </a:rPr>
                        <a:t>Risk of vendor lock-in with proprietary tools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299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3884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92939-AFA5-6F47-5890-147E7AF77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 The Multi-Cloud Strategy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CD500-8458-FE93-6F99-C7A4A1189B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Multi-Cloud</a:t>
            </a:r>
          </a:p>
          <a:p>
            <a:r>
              <a:rPr lang="en-IN" dirty="0"/>
              <a:t>A </a:t>
            </a:r>
            <a:r>
              <a:rPr lang="en-IN" b="1" dirty="0"/>
              <a:t>Multi-Cloud</a:t>
            </a:r>
            <a:r>
              <a:rPr lang="en-IN" dirty="0"/>
              <a:t> strategy uses </a:t>
            </a:r>
            <a:r>
              <a:rPr lang="en-IN" b="1" dirty="0"/>
              <a:t>cloud services from two or more public cloud providers</a:t>
            </a:r>
            <a:r>
              <a:rPr lang="en-IN" dirty="0"/>
              <a:t>.</a:t>
            </a:r>
          </a:p>
          <a:p>
            <a:r>
              <a:rPr lang="en-IN" b="1" dirty="0"/>
              <a:t>Flexibility and Choice</a:t>
            </a:r>
            <a:r>
              <a:rPr lang="en-IN" dirty="0"/>
              <a:t> – Each cloud provider is chosen based on the services and features it offers.</a:t>
            </a:r>
          </a:p>
          <a:p>
            <a:r>
              <a:rPr lang="en-IN" b="1" dirty="0"/>
              <a:t>Examples:</a:t>
            </a:r>
            <a:endParaRPr lang="en-IN" dirty="0"/>
          </a:p>
          <a:p>
            <a:r>
              <a:rPr lang="en-IN" dirty="0"/>
              <a:t>An online shopping company uses </a:t>
            </a:r>
            <a:r>
              <a:rPr lang="en-IN" b="1" dirty="0"/>
              <a:t>Microsoft Azure</a:t>
            </a:r>
            <a:r>
              <a:rPr lang="en-IN" dirty="0"/>
              <a:t> for its online store and </a:t>
            </a:r>
            <a:r>
              <a:rPr lang="en-IN" b="1" dirty="0"/>
              <a:t>Google Cloud</a:t>
            </a:r>
            <a:r>
              <a:rPr lang="en-IN" dirty="0"/>
              <a:t> for AI-based recommendations. </a:t>
            </a:r>
          </a:p>
          <a:p>
            <a:r>
              <a:rPr lang="en-IN" dirty="0"/>
              <a:t>A company uses </a:t>
            </a:r>
            <a:r>
              <a:rPr lang="en-IN" b="1" dirty="0"/>
              <a:t>AWS</a:t>
            </a:r>
            <a:r>
              <a:rPr lang="en-IN" dirty="0"/>
              <a:t> for its main applications and </a:t>
            </a:r>
            <a:r>
              <a:rPr lang="en-IN" b="1" dirty="0"/>
              <a:t>Microsoft Azure</a:t>
            </a:r>
            <a:r>
              <a:rPr lang="en-IN" dirty="0"/>
              <a:t> for Microsoft tools and user management.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0771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A256A-38F8-C8A4-257A-8FC4FEE98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Multi-Cloud – Benefits &amp; Challenges</a:t>
            </a:r>
            <a:br>
              <a:rPr lang="en-IN" b="1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4FE53F9-E70D-C612-FF1D-486F39F0BD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5174799"/>
              </p:ext>
            </p:extLst>
          </p:nvPr>
        </p:nvGraphicFramePr>
        <p:xfrm>
          <a:off x="1472184" y="3090673"/>
          <a:ext cx="9459151" cy="2594502"/>
        </p:xfrm>
        <a:graphic>
          <a:graphicData uri="http://schemas.openxmlformats.org/drawingml/2006/table">
            <a:tbl>
              <a:tblPr/>
              <a:tblGrid>
                <a:gridCol w="4923727">
                  <a:extLst>
                    <a:ext uri="{9D8B030D-6E8A-4147-A177-3AD203B41FA5}">
                      <a16:colId xmlns:a16="http://schemas.microsoft.com/office/drawing/2014/main" val="1443851286"/>
                    </a:ext>
                  </a:extLst>
                </a:gridCol>
                <a:gridCol w="4535424">
                  <a:extLst>
                    <a:ext uri="{9D8B030D-6E8A-4147-A177-3AD203B41FA5}">
                      <a16:colId xmlns:a16="http://schemas.microsoft.com/office/drawing/2014/main" val="1020559335"/>
                    </a:ext>
                  </a:extLst>
                </a:gridCol>
              </a:tblGrid>
              <a:tr h="309154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2000" b="1" dirty="0">
                          <a:effectLst/>
                          <a:highlight>
                            <a:srgbClr val="FFFF00"/>
                          </a:highlight>
                          <a:latin typeface="quote-cjk-patch"/>
                        </a:rPr>
                        <a:t>Benefits</a:t>
                      </a:r>
                      <a:endParaRPr lang="en-IN" sz="2000" b="0" dirty="0">
                        <a:effectLst/>
                        <a:highlight>
                          <a:srgbClr val="FFFF00"/>
                        </a:highlight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2000" b="1" dirty="0">
                          <a:effectLst/>
                          <a:highlight>
                            <a:srgbClr val="FFFF00"/>
                          </a:highlight>
                          <a:latin typeface="quote-cjk-patch"/>
                        </a:rPr>
                        <a:t>Challenges</a:t>
                      </a:r>
                      <a:endParaRPr lang="en-IN" sz="2000" b="0" dirty="0">
                        <a:effectLst/>
                        <a:highlight>
                          <a:srgbClr val="FFFF00"/>
                        </a:highlight>
                        <a:latin typeface="quote-cjk-patch"/>
                      </a:endParaRP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593470"/>
                  </a:ext>
                </a:extLst>
              </a:tr>
              <a:tr h="51017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2000" b="0" dirty="0">
                          <a:effectLst/>
                          <a:latin typeface="quote-cjk-patch"/>
                        </a:rPr>
                        <a:t>Avoid vendor lock-in completely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2000" b="0" dirty="0">
                          <a:effectLst/>
                          <a:latin typeface="quote-cjk-patch"/>
                        </a:rPr>
                        <a:t>Managing multiple clouds is operationally complex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7993359"/>
                  </a:ext>
                </a:extLst>
              </a:tr>
              <a:tr h="30915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2000" b="0" dirty="0">
                          <a:effectLst/>
                          <a:latin typeface="quote-cjk-patch"/>
                        </a:rPr>
                        <a:t>Choose best-in-class services per need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2000" b="0" dirty="0">
                          <a:effectLst/>
                          <a:latin typeface="quote-cjk-patch"/>
                        </a:rPr>
                        <a:t>Cost tracking across providers is difficult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503837"/>
                  </a:ext>
                </a:extLst>
              </a:tr>
              <a:tr h="51017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2000" b="0" dirty="0">
                          <a:effectLst/>
                          <a:latin typeface="quote-cjk-patch"/>
                        </a:rPr>
                        <a:t>Superior disaster recovery &amp; redundancy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2000" b="0" dirty="0">
                          <a:effectLst/>
                          <a:latin typeface="quote-cjk-patch"/>
                        </a:rPr>
                        <a:t>Inconsistent security policies across clouds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048206"/>
                  </a:ext>
                </a:extLst>
              </a:tr>
              <a:tr h="51017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2000" b="0" dirty="0">
                          <a:effectLst/>
                          <a:latin typeface="quote-cjk-patch"/>
                        </a:rPr>
                        <a:t>Optimize costs by comparing provider pricing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2000" b="0" dirty="0">
                          <a:effectLst/>
                          <a:latin typeface="quote-cjk-patch"/>
                        </a:rPr>
                        <a:t>High data egress fees between clouds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68743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8760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D102E-20E6-E3CB-2D47-86D0706EC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 &amp; Recommendations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6521D-01AB-99DA-0215-99B204FCC3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Choose Hybrid Cloud if:</a:t>
            </a:r>
          </a:p>
          <a:p>
            <a:r>
              <a:rPr lang="en-IN" dirty="0"/>
              <a:t>You have </a:t>
            </a:r>
            <a:r>
              <a:rPr lang="en-IN" b="1" dirty="0"/>
              <a:t>old systems</a:t>
            </a:r>
            <a:r>
              <a:rPr lang="en-IN" dirty="0"/>
              <a:t> that cannot be moved to the cloud immediately. </a:t>
            </a:r>
          </a:p>
          <a:p>
            <a:r>
              <a:rPr lang="en-IN" dirty="0"/>
              <a:t>You need </a:t>
            </a:r>
            <a:r>
              <a:rPr lang="en-IN" b="1" dirty="0"/>
              <a:t>high security and follow strict rules</a:t>
            </a:r>
            <a:r>
              <a:rPr lang="en-IN" dirty="0"/>
              <a:t>, especially in finance, healthcare, or government. </a:t>
            </a:r>
          </a:p>
          <a:p>
            <a:r>
              <a:rPr lang="en-IN" dirty="0"/>
              <a:t>You want to </a:t>
            </a:r>
            <a:r>
              <a:rPr lang="en-IN" b="1" dirty="0"/>
              <a:t>move to the cloud step by step</a:t>
            </a:r>
            <a:r>
              <a:rPr lang="en-IN" dirty="0"/>
              <a:t> without affecting your current operations. </a:t>
            </a:r>
          </a:p>
          <a:p>
            <a:r>
              <a:rPr lang="en-IN" b="1" dirty="0"/>
              <a:t>Choose Multi-Cloud if:</a:t>
            </a:r>
          </a:p>
          <a:p>
            <a:r>
              <a:rPr lang="en-IN" dirty="0"/>
              <a:t>You want to </a:t>
            </a:r>
            <a:r>
              <a:rPr lang="en-IN" b="1" dirty="0"/>
              <a:t>avoid depending on one cloud provider</a:t>
            </a:r>
            <a:r>
              <a:rPr lang="en-IN" dirty="0"/>
              <a:t>. </a:t>
            </a:r>
          </a:p>
          <a:p>
            <a:r>
              <a:rPr lang="en-IN" dirty="0"/>
              <a:t>You need </a:t>
            </a:r>
            <a:r>
              <a:rPr lang="en-IN" b="1" dirty="0"/>
              <a:t>different cloud services</a:t>
            </a:r>
            <a:r>
              <a:rPr lang="en-IN" dirty="0"/>
              <a:t> for different purposes, such as AI and data analysis. </a:t>
            </a:r>
          </a:p>
          <a:p>
            <a:r>
              <a:rPr lang="en-IN" dirty="0"/>
              <a:t>You need </a:t>
            </a:r>
            <a:r>
              <a:rPr lang="en-IN" b="1" dirty="0"/>
              <a:t>services in different locations</a:t>
            </a:r>
            <a:r>
              <a:rPr lang="en-IN" dirty="0"/>
              <a:t> to improve availability and reliability.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6086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49ADB3-4737-AD73-C282-F03DACA076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7183" y="2448232"/>
            <a:ext cx="8381719" cy="38050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DE412E8-0297-B854-5924-1B4A08987A02}"/>
              </a:ext>
            </a:extLst>
          </p:cNvPr>
          <p:cNvSpPr txBox="1"/>
          <p:nvPr/>
        </p:nvSpPr>
        <p:spPr>
          <a:xfrm>
            <a:off x="1647183" y="855406"/>
            <a:ext cx="739849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solidFill>
                  <a:schemeClr val="bg1"/>
                </a:solidFill>
              </a:rPr>
              <a:t>Geotagging photo</a:t>
            </a:r>
          </a:p>
        </p:txBody>
      </p:sp>
    </p:spTree>
    <p:extLst>
      <p:ext uri="{BB962C8B-B14F-4D97-AF65-F5344CB8AC3E}">
        <p14:creationId xmlns:p14="http://schemas.microsoft.com/office/powerpoint/2010/main" val="2677797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4A5C1-0956-48BC-FC6D-7389BA4F5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6341" y="3558093"/>
            <a:ext cx="8825659" cy="3416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6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980598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{48BBE6A1-EF99-4C65-B78E-A082CE935B6A}TF229edf6a-8a49-49ee-a0a6-5037052947485fb3ca0c-bc27bf41d645</Template>
  <TotalTime>183</TotalTime>
  <Words>478</Words>
  <Application>Microsoft Office PowerPoint</Application>
  <PresentationFormat>Widescreen</PresentationFormat>
  <Paragraphs>63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Century Gothic</vt:lpstr>
      <vt:lpstr>quote-cjk-patch</vt:lpstr>
      <vt:lpstr>Wingdings 3</vt:lpstr>
      <vt:lpstr>Ion Boardroom</vt:lpstr>
      <vt:lpstr>Multi-Cloud and Hybrid Cloud Strategies for IT Enterprise</vt:lpstr>
      <vt:lpstr>What is Cloud computing? </vt:lpstr>
      <vt:lpstr> Cloud Models </vt:lpstr>
      <vt:lpstr>The Hybrid Cloud </vt:lpstr>
      <vt:lpstr> Hybrid Cloud – Benefits &amp; Challenges </vt:lpstr>
      <vt:lpstr> The Multi-Cloud Strategy </vt:lpstr>
      <vt:lpstr>Multi-Cloud – Benefits &amp; Challenges </vt:lpstr>
      <vt:lpstr>Conclusion &amp; Recommendations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VIJAYALAKSHMI G</dc:creator>
  <cp:lastModifiedBy>VIJAYALAKSHMI G</cp:lastModifiedBy>
  <cp:revision>9</cp:revision>
  <dcterms:created xsi:type="dcterms:W3CDTF">2026-07-21T14:00:16Z</dcterms:created>
  <dcterms:modified xsi:type="dcterms:W3CDTF">2026-07-22T05:39:36Z</dcterms:modified>
</cp:coreProperties>
</file>